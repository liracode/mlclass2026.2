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pie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Classes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065a82"/>
              </a:solidFill>
              <a:ln w="0">
                <a:noFill/>
              </a:ln>
            </c:spPr>
          </c:dPt>
          <c:dPt>
            <c:idx val="1"/>
            <c:spPr>
              <a:solidFill>
                <a:srgbClr val="e4572e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2"/>
                <c:pt idx="0">
                  <c:v>Não diabético (367)</c:v>
                </c:pt>
                <c:pt idx="1">
                  <c:v>Diabético (205)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2"/>
                <c:pt idx="0">
                  <c:v>367</c:v>
                </c:pt>
                <c:pt idx="1">
                  <c:v>205</c:v>
                </c:pt>
              </c:numCache>
            </c:numRef>
          </c:val>
        </c:ser>
        <c:firstSliceAng val="0"/>
      </c:pieChart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100" b="0" u="none" strike="noStrike">
              <a:solidFill>
                <a:srgbClr val="22303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1300" b="0" u="none" strike="noStrike">
                <a:solidFill>
                  <a:srgbClr val="22303f"/>
                </a:solidFill>
                <a:uFillTx/>
                <a:latin typeface="Arial"/>
              </a:rPr>
              <a:t>Percentual de dados ausentes por coluna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% ausente</c:v>
                </c:pt>
              </c:strCache>
            </c:strRef>
          </c:tx>
          <c:spPr>
            <a:solidFill>
              <a:srgbClr val="065a82"/>
            </a:solidFill>
            <a:ln w="0">
              <a:noFill/>
            </a:ln>
          </c:spPr>
          <c:invertIfNegative val="0"/>
          <c:dLbls>
            <c:numFmt formatCode="0.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22303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8"/>
                <c:pt idx="0">
                  <c:v>Insulina</c:v>
                </c:pt>
                <c:pt idx="1">
                  <c:v>Esp. Pele</c:v>
                </c:pt>
                <c:pt idx="2">
                  <c:v>P. Arterial</c:v>
                </c:pt>
                <c:pt idx="3">
                  <c:v>IMC</c:v>
                </c:pt>
                <c:pt idx="4">
                  <c:v>Glicose</c:v>
                </c:pt>
                <c:pt idx="5">
                  <c:v>Gestações</c:v>
                </c:pt>
                <c:pt idx="6">
                  <c:v>DPF</c:v>
                </c:pt>
                <c:pt idx="7">
                  <c:v>Idade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8"/>
                <c:pt idx="0">
                  <c:v>65.4</c:v>
                </c:pt>
                <c:pt idx="1">
                  <c:v>39.7</c:v>
                </c:pt>
                <c:pt idx="2">
                  <c:v>6.1</c:v>
                </c:pt>
                <c:pt idx="3">
                  <c:v>1.9</c:v>
                </c:pt>
                <c:pt idx="4">
                  <c:v>0.9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gapWidth val="150"/>
        <c:overlap val="0"/>
        <c:axId val="95884327"/>
        <c:axId val="1947070"/>
      </c:barChart>
      <c:catAx>
        <c:axId val="95884327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5b6b79"/>
                </a:solidFill>
                <a:uFillTx/>
                <a:latin typeface="Arial"/>
              </a:defRPr>
            </a:pPr>
          </a:p>
        </c:txPr>
        <c:crossAx val="1947070"/>
        <c:crosses val="autoZero"/>
        <c:auto val="1"/>
        <c:lblAlgn val="ctr"/>
        <c:lblOffset val="100"/>
        <c:noMultiLvlLbl val="0"/>
      </c:catAx>
      <c:valAx>
        <c:axId val="1947070"/>
        <c:scaling>
          <c:orientation val="minMax"/>
        </c:scaling>
        <c:delete val="0"/>
        <c:axPos val="l"/>
        <c:majorGridlines>
          <c:spPr>
            <a:ln w="9360">
              <a:solidFill>
                <a:srgbClr val="e4e9ef"/>
              </a:solidFill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sz="1000" b="0" u="none" strike="noStrike">
                    <a:solidFill>
                      <a:srgbClr val="5b6b79"/>
                    </a:solidFill>
                    <a:uFillTx/>
                    <a:latin typeface="Arial"/>
                  </a:rPr>
                  <a:t>%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5b6b79"/>
                </a:solidFill>
                <a:uFillTx/>
                <a:latin typeface="Arial"/>
              </a:defRPr>
            </a:pPr>
          </a:p>
        </c:txPr>
        <c:crossAx val="95884327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% ausente</c:v>
                </c:pt>
              </c:strCache>
            </c:strRef>
          </c:tx>
          <c:spPr>
            <a:solidFill>
              <a:srgbClr val="065a82"/>
            </a:solidFill>
            <a:ln w="0">
              <a:noFill/>
            </a:ln>
          </c:spPr>
          <c:invertIfNegative val="0"/>
          <c:dLbls>
            <c:numFmt formatCode="0.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22303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Insulina</c:v>
                </c:pt>
                <c:pt idx="1">
                  <c:v>Esp. Pele</c:v>
                </c:pt>
                <c:pt idx="2">
                  <c:v>P. Arterial</c:v>
                </c:pt>
                <c:pt idx="3">
                  <c:v>IMC</c:v>
                </c:pt>
                <c:pt idx="4">
                  <c:v>Glicose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65.4</c:v>
                </c:pt>
                <c:pt idx="1">
                  <c:v>39.7</c:v>
                </c:pt>
                <c:pt idx="2">
                  <c:v>6.1</c:v>
                </c:pt>
                <c:pt idx="3">
                  <c:v>1.9</c:v>
                </c:pt>
                <c:pt idx="4">
                  <c:v>0.9</c:v>
                </c:pt>
              </c:numCache>
            </c:numRef>
          </c:val>
        </c:ser>
        <c:gapWidth val="150"/>
        <c:overlap val="0"/>
        <c:axId val="29991184"/>
        <c:axId val="41371946"/>
      </c:barChart>
      <c:lineChart>
        <c:grouping val="standard"/>
        <c:varyColors val="0"/>
        <c:ser>
          <c:idx val="1"/>
          <c:order val="1"/>
          <c:tx>
            <c:strRef>
              <c:f>label 1</c:f>
              <c:strCache>
                <c:ptCount val="1"/>
                <c:pt idx="0">
                  <c:v>Limiar de alerta (40%)</c:v>
                </c:pt>
              </c:strCache>
            </c:strRef>
          </c:tx>
          <c:spPr>
            <a:solidFill>
              <a:srgbClr val="e4572e"/>
            </a:solidFill>
            <a:ln w="31680">
              <a:solidFill>
                <a:srgbClr val="e4572e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Insulina</c:v>
                </c:pt>
                <c:pt idx="1">
                  <c:v>Esp. Pele</c:v>
                </c:pt>
                <c:pt idx="2">
                  <c:v>P. Arterial</c:v>
                </c:pt>
                <c:pt idx="3">
                  <c:v>IMC</c:v>
                </c:pt>
                <c:pt idx="4">
                  <c:v>Glicose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40</c:v>
                </c:pt>
                <c:pt idx="4">
                  <c:v>40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0"/>
        <c:axId val="29991184"/>
        <c:axId val="41371946"/>
      </c:lineChart>
      <c:catAx>
        <c:axId val="299911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5b6b79"/>
                </a:solidFill>
                <a:uFillTx/>
                <a:latin typeface="Arial"/>
              </a:defRPr>
            </a:pPr>
          </a:p>
        </c:txPr>
        <c:crossAx val="41371946"/>
        <c:crosses val="autoZero"/>
        <c:auto val="1"/>
        <c:lblAlgn val="ctr"/>
        <c:lblOffset val="100"/>
        <c:noMultiLvlLbl val="0"/>
      </c:catAx>
      <c:valAx>
        <c:axId val="41371946"/>
        <c:scaling>
          <c:orientation val="minMax"/>
        </c:scaling>
        <c:delete val="0"/>
        <c:axPos val="l"/>
        <c:majorGridlines>
          <c:spPr>
            <a:ln w="9360">
              <a:solidFill>
                <a:srgbClr val="e4e9ef"/>
              </a:solidFill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sz="1000" b="0" u="none" strike="noStrike">
                    <a:solidFill>
                      <a:srgbClr val="5b6b79"/>
                    </a:solidFill>
                    <a:uFillTx/>
                    <a:latin typeface="Arial"/>
                  </a:rPr>
                  <a:t>% ausente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5b6b79"/>
                </a:solidFill>
                <a:uFillTx/>
                <a:latin typeface="Arial"/>
              </a:defRPr>
            </a:pPr>
          </a:p>
        </c:txPr>
        <c:crossAx val="29991184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5b6b79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mover o slide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</a:t>
            </a: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0C36AEA-C192-4F7E-BC9C-B5825D84A5C9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1BECA5-56FB-4BD8-94F7-7C078958A8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A00631-B5C3-4846-A14A-AF76D67CA7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48738F-F928-4B41-AF0E-2D0E3CBE4B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029416-49D7-45AD-8B0A-B77B8C85A6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4EB59F-7137-4C38-9451-A78A16B135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730E27-7620-46DF-8AF5-906428B8F1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9C7696-905C-4E1C-9F3B-2131522BC0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78621C-E06F-448B-98FF-F8288F0401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2A3FFD-2EFD-4F83-BCA3-213A85D9C8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9F245A-DEEB-4A4D-BFDA-88EF2871F6E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tí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8778240" y="-1800000"/>
            <a:ext cx="5942880" cy="5942880"/>
          </a:xfrm>
          <a:prstGeom prst="ellipse">
            <a:avLst/>
          </a:prstGeom>
          <a:solidFill>
            <a:srgbClr val="065a82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10058400" y="3931920"/>
            <a:ext cx="3839760" cy="3839760"/>
          </a:xfrm>
          <a:prstGeom prst="ellipse">
            <a:avLst/>
          </a:prstGeom>
          <a:solidFill>
            <a:srgbClr val="1c7293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-1463040" y="4663440"/>
            <a:ext cx="3108240" cy="3108240"/>
          </a:xfrm>
          <a:prstGeom prst="ellipse">
            <a:avLst/>
          </a:prstGeom>
          <a:solidFill>
            <a:srgbClr val="e4572e">
              <a:alpha val="2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822960" y="234000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BR" sz="1300" b="1" u="none" spc="201" strike="noStrike">
                <a:solidFill>
                  <a:srgbClr val="8fd3d9"/>
                </a:solidFill>
                <a:effectLst/>
                <a:uFillTx/>
                <a:latin typeface="Calibri"/>
                <a:ea typeface="Calibri"/>
              </a:rPr>
              <a:t>MACHINE </a:t>
            </a:r>
            <a:r>
              <a:rPr lang="en-US" sz="1300" b="1" u="none" spc="201" strike="noStrike">
                <a:solidFill>
                  <a:srgbClr val="8fd3d9"/>
                </a:solidFill>
                <a:effectLst/>
                <a:uFillTx/>
                <a:latin typeface="Calibri"/>
                <a:ea typeface="Calibri"/>
              </a:rPr>
              <a:t>LEARNING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0" y="2468880"/>
            <a:ext cx="863964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 anchorCtr="1">
            <a:noAutofit/>
          </a:bodyPr>
          <a:p>
            <a:pPr algn="r">
              <a:lnSpc>
                <a:spcPct val="100000"/>
              </a:lnSpc>
            </a:pPr>
            <a:r>
              <a:rPr lang="pt-BR" sz="4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      Pré-processamento de Dados</a:t>
            </a:r>
            <a:endParaRPr lang="pt-BR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22960" y="3408840"/>
            <a:ext cx="86860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lang="pt-BR" sz="1600" b="0" u="none" strike="noStrike">
                <a:solidFill>
                  <a:srgbClr val="c7d3e0"/>
                </a:solidFill>
                <a:effectLst/>
                <a:uFillTx/>
                <a:latin typeface="Calibri"/>
                <a:ea typeface="Calibri"/>
              </a:rPr>
              <a:t>Como o </a:t>
            </a:r>
            <a:r>
              <a:rPr lang="en-US" sz="1600" b="0" u="none" strike="noStrike">
                <a:solidFill>
                  <a:srgbClr val="c7d3e0"/>
                </a:solidFill>
                <a:effectLst/>
                <a:uFillTx/>
                <a:latin typeface="Calibri"/>
                <a:ea typeface="Calibri"/>
              </a:rPr>
              <a:t>dataset</a:t>
            </a:r>
            <a:r>
              <a:rPr lang="pt-BR" sz="1600" b="0" u="none" strike="noStrike">
                <a:solidFill>
                  <a:srgbClr val="c7d3e0"/>
                </a:solidFill>
                <a:effectLst/>
                <a:uFillTx/>
                <a:latin typeface="Calibri"/>
                <a:ea typeface="Calibri"/>
              </a:rPr>
              <a:t> de diabetes é limpo, imputado e normalizado antes de alimentar o modelo preditivo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822960" y="5943600"/>
            <a:ext cx="10514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diabetes_dataset.xlsx</a:t>
            </a:r>
            <a:r>
              <a:rPr lang="en-US" sz="1200" b="0" u="none" strike="noStrike">
                <a:solidFill>
                  <a:srgbClr val="9aa7c0"/>
                </a:solidFill>
                <a:effectLst/>
                <a:uFillTx/>
                <a:latin typeface="Courier New"/>
                <a:ea typeface="Courier New"/>
              </a:rPr>
              <a:t>   →   preprocess_diabetes.py   →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diabetes_dataset_preprocess.xlsx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4809240" y="6480000"/>
            <a:ext cx="2573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FELIPE LIRA DA SILVA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548640" y="45720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150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PONTO DE PARTIDA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48640" y="713160"/>
            <a:ext cx="104234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O dataset de diabetes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" name="Table 0"/>
          <p:cNvGraphicFramePr/>
          <p:nvPr/>
        </p:nvGraphicFramePr>
        <p:xfrm>
          <a:off x="548640" y="1508760"/>
          <a:ext cx="5943240" cy="4869360"/>
        </p:xfrm>
        <a:graphic>
          <a:graphicData uri="http://schemas.openxmlformats.org/drawingml/2006/table">
            <a:tbl>
              <a:tblPr/>
              <a:tblGrid>
                <a:gridCol w="2743200"/>
                <a:gridCol w="3200400"/>
              </a:tblGrid>
              <a:tr h="484560"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Coluna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O que representa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solidFill>
                      <a:srgbClr val="065a82"/>
                    </a:solidFill>
                  </a:tcPr>
                </a:tc>
              </a:tr>
              <a:tr h="484560"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Pregnancies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Número de gestações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</a:tr>
              <a:tr h="484560"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Glucose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Concentração de glicose no plasma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</a:tr>
              <a:tr h="484560"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BloodPressure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Pressão arterial diastólica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</a:tr>
              <a:tr h="484560"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SkinThickness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Espessura da dobra cutânea do tríceps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</a:tr>
              <a:tr h="484560"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Insulin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Insulina sérica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</a:tr>
              <a:tr h="484560"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BMI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Índice de massa corporal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</a:tr>
              <a:tr h="484560"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DiabetesPedigreeFunction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Histórico genético de diabetes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</a:tr>
              <a:tr h="508320"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Age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100" b="0" u="none" strike="noStrike">
                          <a:solidFill>
                            <a:srgbClr val="22303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Idade</a:t>
                      </a:r>
                      <a:endParaRPr lang="pt-B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</a:tr>
              <a:tr h="484560"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Outcome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5960" rIns="75960" tIns="3780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Alvo: diabético (1) ou não (0)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37800" marB="37800">
                    <a:lnL w="9360">
                      <a:solidFill>
                        <a:srgbClr val="e4e9ef"/>
                      </a:solidFill>
                      <a:prstDash val="solid"/>
                    </a:lnL>
                    <a:lnR w="9360">
                      <a:solidFill>
                        <a:srgbClr val="e4e9ef"/>
                      </a:solidFill>
                      <a:prstDash val="solid"/>
                    </a:lnR>
                    <a:lnT w="9360">
                      <a:solidFill>
                        <a:srgbClr val="e4e9ef"/>
                      </a:solidFill>
                      <a:prstDash val="solid"/>
                    </a:lnT>
                    <a:lnB w="9360">
                      <a:solidFill>
                        <a:srgbClr val="e4e9e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1" name="Shape 2"/>
          <p:cNvSpPr/>
          <p:nvPr/>
        </p:nvSpPr>
        <p:spPr>
          <a:xfrm>
            <a:off x="6903720" y="1508760"/>
            <a:ext cx="4754160" cy="1416600"/>
          </a:xfrm>
          <a:prstGeom prst="roundRect">
            <a:avLst>
              <a:gd name="adj" fmla="val 6452"/>
            </a:avLst>
          </a:prstGeom>
          <a:solidFill>
            <a:srgbClr val="f5f7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7178040" y="1627560"/>
            <a:ext cx="447984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000" b="1" u="none" strike="noStrike">
                <a:solidFill>
                  <a:srgbClr val="065a82"/>
                </a:solidFill>
                <a:effectLst/>
                <a:uFillTx/>
                <a:latin typeface="Cambria"/>
                <a:ea typeface="Cambria"/>
              </a:rPr>
              <a:t>572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7178040" y="2331720"/>
            <a:ext cx="44798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 anchorCtr="1">
            <a:noAutofit/>
          </a:bodyPr>
          <a:p>
            <a:pPr algn="ctr"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5b6b79"/>
                </a:solidFill>
                <a:effectLst/>
                <a:uFillTx/>
                <a:latin typeface="Calibri"/>
                <a:ea typeface="Calibri"/>
              </a:rPr>
              <a:t>registros de treino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5b6b79"/>
                </a:solidFill>
                <a:effectLst/>
                <a:uFillTx/>
                <a:latin typeface="Calibri"/>
                <a:ea typeface="Calibri"/>
              </a:rPr>
              <a:t>(diabetes_dataset.xlsx)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5"/>
          <p:cNvSpPr/>
          <p:nvPr/>
        </p:nvSpPr>
        <p:spPr>
          <a:xfrm>
            <a:off x="9464040" y="1627560"/>
            <a:ext cx="21024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6"/>
          <p:cNvSpPr/>
          <p:nvPr/>
        </p:nvSpPr>
        <p:spPr>
          <a:xfrm>
            <a:off x="9464040" y="2331720"/>
            <a:ext cx="21024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903720" y="3246120"/>
            <a:ext cx="4754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Balanceamento das classes (treino)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" name="Chart 0"/>
          <p:cNvGraphicFramePr/>
          <p:nvPr/>
        </p:nvGraphicFramePr>
        <p:xfrm>
          <a:off x="6903720" y="3566160"/>
          <a:ext cx="4754160" cy="2833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8" name="Text 8"/>
          <p:cNvSpPr/>
          <p:nvPr/>
        </p:nvSpPr>
        <p:spPr>
          <a:xfrm>
            <a:off x="11548800" y="6446520"/>
            <a:ext cx="365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ab4be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0"/>
          <p:cNvSpPr/>
          <p:nvPr/>
        </p:nvSpPr>
        <p:spPr>
          <a:xfrm>
            <a:off x="548640" y="502920"/>
            <a:ext cx="502200" cy="5022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"/>
          <p:cNvSpPr/>
          <p:nvPr/>
        </p:nvSpPr>
        <p:spPr>
          <a:xfrm>
            <a:off x="548640" y="5029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"/>
          <p:cNvSpPr/>
          <p:nvPr/>
        </p:nvSpPr>
        <p:spPr>
          <a:xfrm>
            <a:off x="1234440" y="45720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150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DIAGNÓSTICO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3"/>
          <p:cNvSpPr/>
          <p:nvPr/>
        </p:nvSpPr>
        <p:spPr>
          <a:xfrm>
            <a:off x="1234440" y="713160"/>
            <a:ext cx="104234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Diagnóstico de dados ausentes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4"/>
          <p:cNvSpPr/>
          <p:nvPr/>
        </p:nvSpPr>
        <p:spPr>
          <a:xfrm>
            <a:off x="548640" y="1417320"/>
            <a:ext cx="429696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Antes de qualquer alteração, o script calcula o percentual de valores ausentes (NaN) em cada coluna. Esse diagnóstico orienta todas as decisões seguintes do pipeline.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5"/>
          <p:cNvSpPr/>
          <p:nvPr/>
        </p:nvSpPr>
        <p:spPr>
          <a:xfrm>
            <a:off x="548640" y="3429000"/>
            <a:ext cx="4296960" cy="2651040"/>
          </a:xfrm>
          <a:prstGeom prst="roundRect">
            <a:avLst>
              <a:gd name="adj" fmla="val 3448"/>
            </a:avLst>
          </a:prstGeom>
          <a:solidFill>
            <a:srgbClr val="f5f7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6"/>
          <p:cNvSpPr/>
          <p:nvPr/>
        </p:nvSpPr>
        <p:spPr>
          <a:xfrm>
            <a:off x="822960" y="3611880"/>
            <a:ext cx="3748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Maiores lacunas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7"/>
          <p:cNvSpPr/>
          <p:nvPr/>
        </p:nvSpPr>
        <p:spPr>
          <a:xfrm>
            <a:off x="822960" y="3931920"/>
            <a:ext cx="3748320" cy="21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e4572e"/>
                </a:solidFill>
                <a:effectLst/>
                <a:uFillTx/>
                <a:latin typeface="Courier New"/>
                <a:ea typeface="Courier New"/>
              </a:rPr>
              <a:t>Insulin      </a:t>
            </a:r>
            <a:r>
              <a:rPr lang="en-US" sz="1300" b="0" u="none" strike="noStrike">
                <a:solidFill>
                  <a:srgbClr val="5b6b79"/>
                </a:solidFill>
                <a:effectLst/>
                <a:uFillTx/>
                <a:latin typeface="Calibri"/>
                <a:ea typeface="Calibri"/>
              </a:rPr>
              <a:t>65,4% ausente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1c7293"/>
                </a:solidFill>
                <a:effectLst/>
                <a:uFillTx/>
                <a:latin typeface="Courier New"/>
                <a:ea typeface="Courier New"/>
              </a:rPr>
              <a:t>SkinThickness</a:t>
            </a:r>
            <a:r>
              <a:rPr lang="en-US" sz="1300" b="0" u="none" strike="noStrike">
                <a:solidFill>
                  <a:srgbClr val="5b6b79"/>
                </a:solidFill>
                <a:effectLst/>
                <a:uFillTx/>
                <a:latin typeface="Calibri"/>
                <a:ea typeface="Calibri"/>
              </a:rPr>
              <a:t> 39,7% ausente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65a82"/>
                </a:solidFill>
                <a:effectLst/>
                <a:uFillTx/>
                <a:latin typeface="Courier New"/>
                <a:ea typeface="Courier New"/>
              </a:rPr>
              <a:t>BloodPressure</a:t>
            </a:r>
            <a:r>
              <a:rPr lang="en-US" sz="1300" b="0" u="none" strike="noStrike">
                <a:solidFill>
                  <a:srgbClr val="5b6b79"/>
                </a:solidFill>
                <a:effectLst/>
                <a:uFillTx/>
                <a:latin typeface="Calibri"/>
                <a:ea typeface="Calibri"/>
              </a:rPr>
              <a:t> 6,1% ausente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" name="Chart 0"/>
          <p:cNvGraphicFramePr/>
          <p:nvPr/>
        </p:nvGraphicFramePr>
        <p:xfrm>
          <a:off x="5029200" y="1417320"/>
          <a:ext cx="6582960" cy="4662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Text 8"/>
          <p:cNvSpPr/>
          <p:nvPr/>
        </p:nvSpPr>
        <p:spPr>
          <a:xfrm>
            <a:off x="11548800" y="6446520"/>
            <a:ext cx="365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ab4be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0"/>
          <p:cNvSpPr/>
          <p:nvPr/>
        </p:nvSpPr>
        <p:spPr>
          <a:xfrm>
            <a:off x="548640" y="502920"/>
            <a:ext cx="502200" cy="5022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"/>
          <p:cNvSpPr/>
          <p:nvPr/>
        </p:nvSpPr>
        <p:spPr>
          <a:xfrm>
            <a:off x="548640" y="5029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"/>
          <p:cNvSpPr/>
          <p:nvPr/>
        </p:nvSpPr>
        <p:spPr>
          <a:xfrm>
            <a:off x="1234440" y="45720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150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LIMPEZA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"/>
          <p:cNvSpPr/>
          <p:nvPr/>
        </p:nvSpPr>
        <p:spPr>
          <a:xfrm>
            <a:off x="1234440" y="713160"/>
            <a:ext cx="104234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Zeros que, na verdade, são ausência de dado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4"/>
          <p:cNvSpPr/>
          <p:nvPr/>
        </p:nvSpPr>
        <p:spPr>
          <a:xfrm>
            <a:off x="548640" y="1463040"/>
            <a:ext cx="106977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Em exames clínicos, zero nem sempre significa "zero" — em algumas colunas é fisiologicamente impossível e sinaliza medição não registrada. O script converte esses casos em NaN antes de imputar, para que não sejam tratados como valores reais.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5"/>
          <p:cNvSpPr/>
          <p:nvPr/>
        </p:nvSpPr>
        <p:spPr>
          <a:xfrm>
            <a:off x="548640" y="2514600"/>
            <a:ext cx="5257080" cy="3565440"/>
          </a:xfrm>
          <a:prstGeom prst="roundRect">
            <a:avLst>
              <a:gd name="adj" fmla="val 3077"/>
            </a:avLst>
          </a:prstGeom>
          <a:solidFill>
            <a:srgbClr val="fdee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6"/>
          <p:cNvSpPr/>
          <p:nvPr/>
        </p:nvSpPr>
        <p:spPr>
          <a:xfrm>
            <a:off x="868680" y="2724840"/>
            <a:ext cx="4662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e4572e"/>
                </a:solidFill>
                <a:effectLst/>
                <a:uFillTx/>
                <a:latin typeface="Cambria"/>
                <a:ea typeface="Cambria"/>
              </a:rPr>
              <a:t>Zero é IMPOSSÍVEL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7"/>
          <p:cNvSpPr/>
          <p:nvPr/>
        </p:nvSpPr>
        <p:spPr>
          <a:xfrm>
            <a:off x="868680" y="3063240"/>
            <a:ext cx="4662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5b6b79"/>
                </a:solidFill>
                <a:effectLst/>
                <a:uFillTx/>
                <a:latin typeface="Calibri"/>
                <a:ea typeface="Calibri"/>
              </a:rPr>
              <a:t>(tratado como ausente)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8"/>
          <p:cNvSpPr/>
          <p:nvPr/>
        </p:nvSpPr>
        <p:spPr>
          <a:xfrm>
            <a:off x="868680" y="3429000"/>
            <a:ext cx="4662720" cy="24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lang="en-US" sz="1500" b="1" u="none" strike="noStrike">
                <a:solidFill>
                  <a:srgbClr val="22303f"/>
                </a:solidFill>
                <a:effectLst/>
                <a:uFillTx/>
                <a:latin typeface="Courier New"/>
                <a:ea typeface="Courier New"/>
              </a:rPr>
              <a:t>•  Glucose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lang="en-US" sz="1500" b="1" u="none" strike="noStrike">
                <a:solidFill>
                  <a:srgbClr val="22303f"/>
                </a:solidFill>
                <a:effectLst/>
                <a:uFillTx/>
                <a:latin typeface="Courier New"/>
                <a:ea typeface="Courier New"/>
              </a:rPr>
              <a:t>•  BloodPressure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lang="en-US" sz="1500" b="1" u="none" strike="noStrike">
                <a:solidFill>
                  <a:srgbClr val="22303f"/>
                </a:solidFill>
                <a:effectLst/>
                <a:uFillTx/>
                <a:latin typeface="Courier New"/>
                <a:ea typeface="Courier New"/>
              </a:rPr>
              <a:t>•  SkinThickness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lang="en-US" sz="1500" b="1" u="none" strike="noStrike">
                <a:solidFill>
                  <a:srgbClr val="22303f"/>
                </a:solidFill>
                <a:effectLst/>
                <a:uFillTx/>
                <a:latin typeface="Courier New"/>
                <a:ea typeface="Courier New"/>
              </a:rPr>
              <a:t>•  Insulin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lang="en-US" sz="1500" b="1" u="none" strike="noStrike">
                <a:solidFill>
                  <a:srgbClr val="22303f"/>
                </a:solidFill>
                <a:effectLst/>
                <a:uFillTx/>
                <a:latin typeface="Courier New"/>
                <a:ea typeface="Courier New"/>
              </a:rPr>
              <a:t>•  BMI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9"/>
          <p:cNvSpPr/>
          <p:nvPr/>
        </p:nvSpPr>
        <p:spPr>
          <a:xfrm>
            <a:off x="6263640" y="2514600"/>
            <a:ext cx="5348520" cy="3565440"/>
          </a:xfrm>
          <a:prstGeom prst="roundRect">
            <a:avLst>
              <a:gd name="adj" fmla="val 3077"/>
            </a:avLst>
          </a:prstGeom>
          <a:solidFill>
            <a:srgbClr val="e9f3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0"/>
          <p:cNvSpPr/>
          <p:nvPr/>
        </p:nvSpPr>
        <p:spPr>
          <a:xfrm>
            <a:off x="6583680" y="2724840"/>
            <a:ext cx="47541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Zero é VÁLIDO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1"/>
          <p:cNvSpPr/>
          <p:nvPr/>
        </p:nvSpPr>
        <p:spPr>
          <a:xfrm>
            <a:off x="6583680" y="3063240"/>
            <a:ext cx="4754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5b6b79"/>
                </a:solidFill>
                <a:effectLst/>
                <a:uFillTx/>
                <a:latin typeface="Calibri"/>
                <a:ea typeface="Calibri"/>
              </a:rPr>
              <a:t>(mantido como está)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2"/>
          <p:cNvSpPr/>
          <p:nvPr/>
        </p:nvSpPr>
        <p:spPr>
          <a:xfrm>
            <a:off x="6583680" y="3429000"/>
            <a:ext cx="4754160" cy="24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lang="en-US" sz="1500" b="1" u="none" strike="noStrike">
                <a:solidFill>
                  <a:srgbClr val="22303f"/>
                </a:solidFill>
                <a:effectLst/>
                <a:uFillTx/>
                <a:latin typeface="Courier New"/>
                <a:ea typeface="Courier New"/>
              </a:rPr>
              <a:t>•  Pregnancies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lang="en-US" sz="1100" b="1" i="1" u="none" strike="noStrike">
                <a:solidFill>
                  <a:srgbClr val="5b6b79"/>
                </a:solidFill>
                <a:effectLst/>
                <a:uFillTx/>
                <a:latin typeface="Calibri"/>
                <a:ea typeface="Calibri"/>
              </a:rPr>
              <a:t>   (zero gestações é normal)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lang="en-US" sz="1500" b="1" u="none" strike="noStrike">
                <a:solidFill>
                  <a:srgbClr val="22303f"/>
                </a:solidFill>
                <a:effectLst/>
                <a:uFillTx/>
                <a:latin typeface="Courier New"/>
                <a:ea typeface="Courier New"/>
              </a:rPr>
              <a:t>•  Outcome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lang="en-US" sz="1100" b="1" i="1" u="none" strike="noStrike">
                <a:solidFill>
                  <a:srgbClr val="5b6b79"/>
                </a:solidFill>
                <a:effectLst/>
                <a:uFillTx/>
                <a:latin typeface="Calibri"/>
                <a:ea typeface="Calibri"/>
              </a:rPr>
              <a:t>   (0 = não diabético)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3"/>
          <p:cNvSpPr/>
          <p:nvPr/>
        </p:nvSpPr>
        <p:spPr>
          <a:xfrm>
            <a:off x="11548800" y="6446520"/>
            <a:ext cx="365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ab4be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0"/>
          <p:cNvSpPr/>
          <p:nvPr/>
        </p:nvSpPr>
        <p:spPr>
          <a:xfrm>
            <a:off x="548640" y="502920"/>
            <a:ext cx="502200" cy="5022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548640" y="5029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1234440" y="45720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150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LIMPEZA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3"/>
          <p:cNvSpPr/>
          <p:nvPr/>
        </p:nvSpPr>
        <p:spPr>
          <a:xfrm>
            <a:off x="1234440" y="713160"/>
            <a:ext cx="104234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Quando uma coluna deve ser descartada?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4"/>
          <p:cNvSpPr/>
          <p:nvPr/>
        </p:nvSpPr>
        <p:spPr>
          <a:xfrm>
            <a:off x="548640" y="1417320"/>
            <a:ext cx="1069776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Foi definido um limiar de 40% de ausência para o alerta: colunas acima dele são questionadas antes de seguir no pipeline — a decisão final não é automática. A variável alvo (Outcome) nunca entra nessa avaliação.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8" name="Chart 0"/>
          <p:cNvGraphicFramePr/>
          <p:nvPr/>
        </p:nvGraphicFramePr>
        <p:xfrm>
          <a:off x="548640" y="2331720"/>
          <a:ext cx="7223040" cy="3976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9" name="Shape 5"/>
          <p:cNvSpPr/>
          <p:nvPr/>
        </p:nvSpPr>
        <p:spPr>
          <a:xfrm>
            <a:off x="8001000" y="2331720"/>
            <a:ext cx="3611160" cy="1782360"/>
          </a:xfrm>
          <a:prstGeom prst="roundRect">
            <a:avLst>
              <a:gd name="adj" fmla="val 5128"/>
            </a:avLst>
          </a:prstGeom>
          <a:solidFill>
            <a:srgbClr val="fdee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8229600" y="2487240"/>
            <a:ext cx="31996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e4572e"/>
                </a:solidFill>
                <a:effectLst/>
                <a:uFillTx/>
                <a:latin typeface="Calibri"/>
                <a:ea typeface="Calibri"/>
              </a:rPr>
              <a:t>Insulina — 65,4%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8229600" y="2816280"/>
            <a:ext cx="319968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Acima do limiar: o pipeline pergunta se a coluna deve ser excluída do dataset final.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8001000" y="4297680"/>
            <a:ext cx="3611160" cy="2010960"/>
          </a:xfrm>
          <a:prstGeom prst="roundRect">
            <a:avLst>
              <a:gd name="adj" fmla="val 4545"/>
            </a:avLst>
          </a:prstGeom>
          <a:solidFill>
            <a:srgbClr val="f5f7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9"/>
          <p:cNvSpPr/>
          <p:nvPr/>
        </p:nvSpPr>
        <p:spPr>
          <a:xfrm>
            <a:off x="8229600" y="4462200"/>
            <a:ext cx="31996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Esp. Pele — 39,7%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0"/>
          <p:cNvSpPr/>
          <p:nvPr/>
        </p:nvSpPr>
        <p:spPr>
          <a:xfrm>
            <a:off x="8229600" y="4791600"/>
            <a:ext cx="31996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Fica logo abaixo do limiar: segue automaticamente para a etapa de imputação, sem necessidade de revisão.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1"/>
          <p:cNvSpPr/>
          <p:nvPr/>
        </p:nvSpPr>
        <p:spPr>
          <a:xfrm>
            <a:off x="11548800" y="6446520"/>
            <a:ext cx="365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ab4be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548640" y="502920"/>
            <a:ext cx="502200" cy="5022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620640" y="5029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1234440" y="45720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150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ENRIQUECIMENTO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3"/>
          <p:cNvSpPr/>
          <p:nvPr/>
        </p:nvSpPr>
        <p:spPr>
          <a:xfrm>
            <a:off x="1234440" y="713160"/>
            <a:ext cx="104234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Preenchendo o que ficou ausente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4"/>
          <p:cNvSpPr/>
          <p:nvPr/>
        </p:nvSpPr>
        <p:spPr>
          <a:xfrm>
            <a:off x="548640" y="1417320"/>
            <a:ext cx="106977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Em vez de preencher lacunas com um valor fixo, cada NaN recebe um valor sorteado entre as próprias observações válidas daquela coluna. O formato real da distribuição — média, desvio-padrão, valores extremos — é preservado.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5"/>
          <p:cNvSpPr/>
          <p:nvPr/>
        </p:nvSpPr>
        <p:spPr>
          <a:xfrm>
            <a:off x="548640" y="2514600"/>
            <a:ext cx="5257080" cy="356544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6"/>
          <p:cNvSpPr/>
          <p:nvPr/>
        </p:nvSpPr>
        <p:spPr>
          <a:xfrm>
            <a:off x="868680" y="2724840"/>
            <a:ext cx="4662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5b6b79"/>
                </a:solidFill>
                <a:effectLst/>
                <a:uFillTx/>
                <a:latin typeface="Calibri"/>
                <a:ea typeface="Calibri"/>
              </a:rPr>
              <a:t>Abordagem evitada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7"/>
          <p:cNvSpPr/>
          <p:nvPr/>
        </p:nvSpPr>
        <p:spPr>
          <a:xfrm>
            <a:off x="868680" y="3063240"/>
            <a:ext cx="46627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Preencher com média ou mediana fixa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8"/>
          <p:cNvSpPr/>
          <p:nvPr/>
        </p:nvSpPr>
        <p:spPr>
          <a:xfrm>
            <a:off x="868680" y="3657600"/>
            <a:ext cx="466272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•  Todo valor ausente vira idêntico.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•  Reduz artificialmente a variância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lang="en-US" sz="135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•  Distorce a distribuição original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9"/>
          <p:cNvSpPr/>
          <p:nvPr/>
        </p:nvSpPr>
        <p:spPr>
          <a:xfrm>
            <a:off x="6263640" y="2514600"/>
            <a:ext cx="5348520" cy="3565440"/>
          </a:xfrm>
          <a:prstGeom prst="roundRect">
            <a:avLst>
              <a:gd name="adj" fmla="val 3077"/>
            </a:avLst>
          </a:prstGeom>
          <a:solidFill>
            <a:srgbClr val="e9f3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0"/>
          <p:cNvSpPr/>
          <p:nvPr/>
        </p:nvSpPr>
        <p:spPr>
          <a:xfrm>
            <a:off x="6583680" y="2724840"/>
            <a:ext cx="47541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Abordagem usada no script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1"/>
          <p:cNvSpPr/>
          <p:nvPr/>
        </p:nvSpPr>
        <p:spPr>
          <a:xfrm>
            <a:off x="6583680" y="3063240"/>
            <a:ext cx="4754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Amostragem da distribuição real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2"/>
          <p:cNvSpPr/>
          <p:nvPr/>
        </p:nvSpPr>
        <p:spPr>
          <a:xfrm>
            <a:off x="6583680" y="3657600"/>
            <a:ext cx="4754160" cy="21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•  Sorteia entre valores já observados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•  Mantém média, desvio e formato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lang="en-US" sz="135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•  Cada coluna é tratada de forma independente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3"/>
          <p:cNvSpPr/>
          <p:nvPr/>
        </p:nvSpPr>
        <p:spPr>
          <a:xfrm>
            <a:off x="11548800" y="6446520"/>
            <a:ext cx="365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ab4be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0"/>
          <p:cNvSpPr/>
          <p:nvPr/>
        </p:nvSpPr>
        <p:spPr>
          <a:xfrm>
            <a:off x="548640" y="502920"/>
            <a:ext cx="502200" cy="5022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548640" y="5029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1234440" y="45720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150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NORMALIZAÇÃO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"/>
          <p:cNvSpPr/>
          <p:nvPr/>
        </p:nvSpPr>
        <p:spPr>
          <a:xfrm>
            <a:off x="1234440" y="713160"/>
            <a:ext cx="104234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Colocando todas as features na mesma escala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4"/>
          <p:cNvSpPr/>
          <p:nvPr/>
        </p:nvSpPr>
        <p:spPr>
          <a:xfrm>
            <a:off x="548640" y="1417320"/>
            <a:ext cx="106977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Colunas como Insulin e Age têm faixas de valores muito diferentes. O RobustScaler reescala cada feature usando a mediana e o intervalo interquartil (IQR) — em vez de média e desvio-padrão — o que reduz a influência de outliers, comuns num dataset com tantos valores imputados.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5"/>
          <p:cNvSpPr/>
          <p:nvPr/>
        </p:nvSpPr>
        <p:spPr>
          <a:xfrm>
            <a:off x="548640" y="2606040"/>
            <a:ext cx="5119920" cy="3428280"/>
          </a:xfrm>
          <a:prstGeom prst="roundRect">
            <a:avLst>
              <a:gd name="adj" fmla="val 3200"/>
            </a:avLst>
          </a:prstGeom>
          <a:solidFill>
            <a:srgbClr val="f5f7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6"/>
          <p:cNvSpPr/>
          <p:nvPr/>
        </p:nvSpPr>
        <p:spPr>
          <a:xfrm>
            <a:off x="868680" y="2788920"/>
            <a:ext cx="4479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99" strike="noStrike">
                <a:solidFill>
                  <a:srgbClr val="5b6b79"/>
                </a:solidFill>
                <a:effectLst/>
                <a:uFillTx/>
                <a:latin typeface="Calibri"/>
                <a:ea typeface="Calibri"/>
              </a:rPr>
              <a:t>A fórmula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7"/>
          <p:cNvSpPr/>
          <p:nvPr/>
        </p:nvSpPr>
        <p:spPr>
          <a:xfrm>
            <a:off x="868680" y="3246120"/>
            <a:ext cx="44798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65a82"/>
                </a:solidFill>
                <a:effectLst/>
                <a:uFillTx/>
                <a:latin typeface="Courier New"/>
                <a:ea typeface="Courier New"/>
              </a:rPr>
              <a:t>x' = (x − mediana) / IQR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8"/>
          <p:cNvSpPr/>
          <p:nvPr/>
        </p:nvSpPr>
        <p:spPr>
          <a:xfrm>
            <a:off x="868680" y="3931920"/>
            <a:ext cx="44798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5b6b79"/>
                </a:solidFill>
                <a:effectLst/>
                <a:uFillTx/>
                <a:latin typeface="Calibri"/>
                <a:ea typeface="Calibri"/>
              </a:rPr>
              <a:t>IQR = valor do 3º quartil menos o valor do 1º quartil da coluna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9"/>
          <p:cNvSpPr/>
          <p:nvPr/>
        </p:nvSpPr>
        <p:spPr>
          <a:xfrm>
            <a:off x="868680" y="4572000"/>
            <a:ext cx="447984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Por que não a média/desvio-padrão? Porque poucos valores extremos bastam para distorcer essas duas medidas — a mediana e o IQR são muito mais estáveis.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3"/>
          <p:cNvSpPr/>
          <p:nvPr/>
        </p:nvSpPr>
        <p:spPr>
          <a:xfrm>
            <a:off x="6309360" y="4114800"/>
            <a:ext cx="502848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4"/>
          <p:cNvSpPr/>
          <p:nvPr/>
        </p:nvSpPr>
        <p:spPr>
          <a:xfrm>
            <a:off x="11548800" y="6446520"/>
            <a:ext cx="365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ab4be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0"/>
          <p:cNvSpPr/>
          <p:nvPr/>
        </p:nvSpPr>
        <p:spPr>
          <a:xfrm>
            <a:off x="548640" y="502920"/>
            <a:ext cx="502200" cy="5022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"/>
          <p:cNvSpPr/>
          <p:nvPr/>
        </p:nvSpPr>
        <p:spPr>
          <a:xfrm>
            <a:off x="548640" y="5029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1234440" y="45720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150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APLICAR NORMALIZAÇÃO NO ARQUIVO DE TESTE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3"/>
          <p:cNvSpPr/>
          <p:nvPr/>
        </p:nvSpPr>
        <p:spPr>
          <a:xfrm>
            <a:off x="1234440" y="713160"/>
            <a:ext cx="104234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BR" sz="28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Mantendo</a:t>
            </a:r>
            <a:r>
              <a:rPr lang="en-US" sz="28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pt-BR" sz="28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coerência</a:t>
            </a:r>
            <a:r>
              <a:rPr lang="en-US" sz="28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 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4"/>
          <p:cNvSpPr/>
          <p:nvPr/>
        </p:nvSpPr>
        <p:spPr>
          <a:xfrm>
            <a:off x="548640" y="1417320"/>
            <a:ext cx="1069776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Como </a:t>
            </a:r>
            <a:r>
              <a:rPr lang="pt-BR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normalizamos</a:t>
            </a:r>
            <a:r>
              <a:rPr lang="en-US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 o dataset, </a:t>
            </a:r>
            <a:r>
              <a:rPr lang="pt-BR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normalizaremos</a:t>
            </a:r>
            <a:r>
              <a:rPr lang="en-US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pt-BR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também</a:t>
            </a:r>
            <a:r>
              <a:rPr lang="en-US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pt-BR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os</a:t>
            </a:r>
            <a:r>
              <a:rPr lang="en-US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pt-BR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dados</a:t>
            </a:r>
            <a:r>
              <a:rPr lang="en-US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 do </a:t>
            </a:r>
            <a:r>
              <a:rPr lang="pt-BR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teste</a:t>
            </a:r>
            <a:r>
              <a:rPr lang="en-US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 para </a:t>
            </a:r>
            <a:r>
              <a:rPr lang="pt-BR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evitar</a:t>
            </a:r>
            <a:r>
              <a:rPr lang="en-US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pt-BR" sz="1400" b="0" u="none" strike="noStrike">
                <a:solidFill>
                  <a:srgbClr val="22303f"/>
                </a:solidFill>
                <a:effectLst/>
                <a:uFillTx/>
                <a:latin typeface="Calibri"/>
                <a:ea typeface="Calibri"/>
              </a:rPr>
              <a:t>erros.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5"/>
          <p:cNvSpPr/>
          <p:nvPr/>
        </p:nvSpPr>
        <p:spPr>
          <a:xfrm>
            <a:off x="548640" y="2468880"/>
            <a:ext cx="5028480" cy="3748320"/>
          </a:xfrm>
          <a:prstGeom prst="roundRect">
            <a:avLst>
              <a:gd name="adj" fmla="val 2927"/>
            </a:avLst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6"/>
          <p:cNvSpPr/>
          <p:nvPr/>
        </p:nvSpPr>
        <p:spPr>
          <a:xfrm>
            <a:off x="868680" y="2724840"/>
            <a:ext cx="43884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150" strike="noStrike">
                <a:solidFill>
                  <a:srgbClr val="bfe0ea"/>
                </a:solidFill>
                <a:effectLst/>
                <a:uFillTx/>
                <a:latin typeface="Calibri"/>
                <a:ea typeface="Calibri"/>
              </a:rPr>
              <a:t>Pré Processamento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7"/>
          <p:cNvSpPr/>
          <p:nvPr/>
        </p:nvSpPr>
        <p:spPr>
          <a:xfrm>
            <a:off x="868680" y="3035880"/>
            <a:ext cx="43884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diabetes_dataset.xlsx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8"/>
          <p:cNvSpPr/>
          <p:nvPr/>
        </p:nvSpPr>
        <p:spPr>
          <a:xfrm>
            <a:off x="868680" y="3703320"/>
            <a:ext cx="447984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spcAft>
                <a:spcPts val="1199"/>
              </a:spcAft>
              <a:tabLst>
                <a:tab algn="l" pos="0"/>
              </a:tabLst>
            </a:pPr>
            <a:r>
              <a:rPr lang="en-US" sz="1250" b="0" u="none" strike="noStrike">
                <a:solidFill>
                  <a:srgbClr val="e8f0f5"/>
                </a:solidFill>
                <a:effectLst/>
                <a:uFillTx/>
                <a:latin typeface="Calibri"/>
                <a:ea typeface="Calibri"/>
              </a:rPr>
              <a:t>1.  Diagnostica ausências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1199"/>
              </a:spcAft>
              <a:tabLst>
                <a:tab algn="l" pos="0"/>
              </a:tabLst>
            </a:pPr>
            <a:r>
              <a:rPr lang="en-US" sz="1250" b="0" u="none" strike="noStrike">
                <a:solidFill>
                  <a:srgbClr val="e8f0f5"/>
                </a:solidFill>
                <a:effectLst/>
                <a:uFillTx/>
                <a:latin typeface="Calibri"/>
                <a:ea typeface="Calibri"/>
              </a:rPr>
              <a:t>2.  Trata zeros inválidos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1199"/>
              </a:spcAft>
              <a:tabLst>
                <a:tab algn="l" pos="0"/>
              </a:tabLst>
            </a:pPr>
            <a:r>
              <a:rPr lang="en-US" sz="1250" b="0" u="none" strike="noStrike">
                <a:solidFill>
                  <a:srgbClr val="e8f0f5"/>
                </a:solidFill>
                <a:effectLst/>
                <a:uFillTx/>
                <a:latin typeface="Calibri"/>
                <a:ea typeface="Calibri"/>
              </a:rPr>
              <a:t>3.  Avalia exclusão de colunas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1199"/>
              </a:spcAft>
              <a:tabLst>
                <a:tab algn="l" pos="0"/>
              </a:tabLst>
            </a:pPr>
            <a:r>
              <a:rPr lang="en-US" sz="1250" b="0" u="none" strike="noStrike">
                <a:solidFill>
                  <a:srgbClr val="e8f0f5"/>
                </a:solidFill>
                <a:effectLst/>
                <a:uFillTx/>
                <a:latin typeface="Calibri"/>
                <a:ea typeface="Calibri"/>
              </a:rPr>
              <a:t>4.  Imputa por amostragem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1199"/>
              </a:spcAft>
              <a:tabLst>
                <a:tab algn="l" pos="0"/>
              </a:tabLst>
            </a:pPr>
            <a:r>
              <a:rPr lang="en-US" sz="1250" b="0" u="none" strike="noStrike">
                <a:solidFill>
                  <a:srgbClr val="e8f0f5"/>
                </a:solidFill>
                <a:effectLst/>
                <a:uFillTx/>
                <a:latin typeface="Calibri"/>
                <a:ea typeface="Calibri"/>
              </a:rPr>
              <a:t>5.  Calcula mediana/IQR e normaliza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9"/>
          <p:cNvSpPr/>
          <p:nvPr/>
        </p:nvSpPr>
        <p:spPr>
          <a:xfrm>
            <a:off x="5715000" y="4023360"/>
            <a:ext cx="913680" cy="639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457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0"/>
          <p:cNvSpPr/>
          <p:nvPr/>
        </p:nvSpPr>
        <p:spPr>
          <a:xfrm>
            <a:off x="5486400" y="4727520"/>
            <a:ext cx="1370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5b6b79"/>
                </a:solidFill>
                <a:effectLst/>
                <a:uFillTx/>
                <a:latin typeface="Calibri"/>
                <a:ea typeface="Calibri"/>
              </a:rPr>
              <a:t>parâmetros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5b6b79"/>
                </a:solidFill>
                <a:effectLst/>
                <a:uFillTx/>
                <a:latin typeface="Calibri"/>
                <a:ea typeface="Calibri"/>
              </a:rPr>
              <a:t>reaproveitados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1"/>
          <p:cNvSpPr/>
          <p:nvPr/>
        </p:nvSpPr>
        <p:spPr>
          <a:xfrm>
            <a:off x="6720840" y="2468880"/>
            <a:ext cx="4937040" cy="3748320"/>
          </a:xfrm>
          <a:prstGeom prst="roundRect">
            <a:avLst>
              <a:gd name="adj" fmla="val 2927"/>
            </a:avLst>
          </a:prstGeom>
          <a:solidFill>
            <a:srgbClr val="1c729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2"/>
          <p:cNvSpPr/>
          <p:nvPr/>
        </p:nvSpPr>
        <p:spPr>
          <a:xfrm>
            <a:off x="7040880" y="2724840"/>
            <a:ext cx="4296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pc="150" strike="noStrike">
                <a:solidFill>
                  <a:srgbClr val="c9eae4"/>
                </a:solidFill>
                <a:effectLst/>
                <a:uFillTx/>
                <a:latin typeface="Calibri"/>
                <a:ea typeface="Calibri"/>
              </a:rPr>
              <a:t>Teste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3"/>
          <p:cNvSpPr/>
          <p:nvPr/>
        </p:nvSpPr>
        <p:spPr>
          <a:xfrm>
            <a:off x="7040880" y="3035880"/>
            <a:ext cx="42969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diabetes_app.xlsx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4"/>
          <p:cNvSpPr/>
          <p:nvPr/>
        </p:nvSpPr>
        <p:spPr>
          <a:xfrm>
            <a:off x="7040880" y="3703320"/>
            <a:ext cx="447984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spcAft>
                <a:spcPts val="1199"/>
              </a:spcAft>
              <a:tabLst>
                <a:tab algn="l" pos="0"/>
              </a:tabLst>
            </a:pPr>
            <a:r>
              <a:rPr lang="en-US" sz="1250" b="0" u="none" strike="noStrike">
                <a:solidFill>
                  <a:srgbClr val="eaf6f3"/>
                </a:solidFill>
                <a:effectLst/>
                <a:uFillTx/>
                <a:latin typeface="Calibri"/>
                <a:ea typeface="Calibri"/>
              </a:rPr>
              <a:t>1.  Seleciona as mesmas colunas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1199"/>
              </a:spcAft>
              <a:tabLst>
                <a:tab algn="l" pos="0"/>
              </a:tabLst>
            </a:pPr>
            <a:r>
              <a:rPr lang="en-US" sz="1250" b="0" u="none" strike="noStrike">
                <a:solidFill>
                  <a:srgbClr val="eaf6f3"/>
                </a:solidFill>
                <a:effectLst/>
                <a:uFillTx/>
                <a:latin typeface="Calibri"/>
                <a:ea typeface="Calibri"/>
              </a:rPr>
              <a:t>2.  Normaliza com a mediana/IQR já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1199"/>
              </a:spcAft>
              <a:tabLst>
                <a:tab algn="l" pos="0"/>
              </a:tabLst>
            </a:pPr>
            <a:r>
              <a:rPr lang="en-US" sz="1250" b="0" u="none" strike="noStrike">
                <a:solidFill>
                  <a:srgbClr val="eaf6f3"/>
                </a:solidFill>
                <a:effectLst/>
                <a:uFillTx/>
                <a:latin typeface="Calibri"/>
                <a:ea typeface="Calibri"/>
              </a:rPr>
              <a:t>     calculados no pré processamento do dataset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5"/>
          <p:cNvSpPr/>
          <p:nvPr/>
        </p:nvSpPr>
        <p:spPr>
          <a:xfrm>
            <a:off x="11548800" y="6446520"/>
            <a:ext cx="365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ab4be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3"/>
          <p:cNvSpPr/>
          <p:nvPr/>
        </p:nvSpPr>
        <p:spPr>
          <a:xfrm>
            <a:off x="548640" y="430920"/>
            <a:ext cx="502200" cy="5022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6"/>
          <p:cNvSpPr/>
          <p:nvPr/>
        </p:nvSpPr>
        <p:spPr>
          <a:xfrm>
            <a:off x="548640" y="5029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7"/>
          <p:cNvSpPr/>
          <p:nvPr/>
        </p:nvSpPr>
        <p:spPr>
          <a:xfrm>
            <a:off x="1234440" y="45720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8"/>
          <p:cNvSpPr/>
          <p:nvPr/>
        </p:nvSpPr>
        <p:spPr>
          <a:xfrm>
            <a:off x="1096200" y="396000"/>
            <a:ext cx="104234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pt-BR" sz="28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Principais</a:t>
            </a:r>
            <a:r>
              <a:rPr lang="en-US" sz="28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pt-BR" sz="28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funções</a:t>
            </a:r>
            <a:r>
              <a:rPr lang="en-US" sz="28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 do </a:t>
            </a:r>
            <a:r>
              <a:rPr lang="pt-BR" sz="2800" b="1" u="none" strike="noStrike">
                <a:solidFill>
                  <a:srgbClr val="22303f"/>
                </a:solidFill>
                <a:effectLst/>
                <a:uFillTx/>
                <a:latin typeface="Cambria"/>
                <a:ea typeface="Cambria"/>
              </a:rPr>
              <a:t>código.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4"/>
          <p:cNvSpPr/>
          <p:nvPr/>
        </p:nvSpPr>
        <p:spPr>
          <a:xfrm>
            <a:off x="11548800" y="6446520"/>
            <a:ext cx="3650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aab4be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3" name=""/>
          <p:cNvPicPr/>
          <p:nvPr/>
        </p:nvPicPr>
        <p:blipFill>
          <a:blip r:embed="rId1"/>
          <a:stretch/>
        </p:blipFill>
        <p:spPr>
          <a:xfrm>
            <a:off x="180000" y="4779720"/>
            <a:ext cx="6121800" cy="187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" name=""/>
          <p:cNvPicPr/>
          <p:nvPr/>
        </p:nvPicPr>
        <p:blipFill>
          <a:blip r:embed="rId2"/>
          <a:stretch/>
        </p:blipFill>
        <p:spPr>
          <a:xfrm>
            <a:off x="180000" y="1440000"/>
            <a:ext cx="6121800" cy="3441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" name=""/>
          <p:cNvPicPr/>
          <p:nvPr/>
        </p:nvPicPr>
        <p:blipFill>
          <a:blip r:embed="rId3"/>
          <a:stretch/>
        </p:blipFill>
        <p:spPr>
          <a:xfrm>
            <a:off x="6492240" y="2520000"/>
            <a:ext cx="5387400" cy="215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7"/>
          <p:cNvSpPr/>
          <p:nvPr/>
        </p:nvSpPr>
        <p:spPr>
          <a:xfrm>
            <a:off x="-1828800" y="-2011680"/>
            <a:ext cx="5485680" cy="5485680"/>
          </a:xfrm>
          <a:prstGeom prst="ellipse">
            <a:avLst/>
          </a:prstGeom>
          <a:solidFill>
            <a:srgbClr val="065a82">
              <a:alpha val="2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0"/>
          <p:cNvSpPr/>
          <p:nvPr/>
        </p:nvSpPr>
        <p:spPr>
          <a:xfrm>
            <a:off x="9601200" y="3474720"/>
            <a:ext cx="4754160" cy="4754160"/>
          </a:xfrm>
          <a:prstGeom prst="ellipse">
            <a:avLst/>
          </a:prstGeom>
          <a:solidFill>
            <a:srgbClr val="1c7293">
              <a:alpha val="3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2405880" y="2702520"/>
            <a:ext cx="7379640" cy="14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9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OBRIGADO!</a:t>
            </a:r>
            <a:endParaRPr lang="pt-BR" sz="9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931</TotalTime>
  <Application>LibreOffice/25.8.7.3$Linux_X86_64 LibreOffice_project/580$Build-3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2026-09-03T18:48:20Z</dcterms:created>
  <dc:creator>PptxGenJS</dc:creator>
  <dc:description/>
  <dc:language>pt-BR</dc:language>
  <cp:lastModifiedBy/>
  <dcterms:modified xsi:type="dcterms:W3CDTF">2026-09-04T08:46:32Z</dcterms:modified>
  <cp:revision>3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
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065a82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4572e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2"/>
                <c:pt idx="0">
                  <c:v>Não diabético (367)</c:v>
                </c:pt>
                <c:pt idx="1">
                  <c:v>Diabético (205)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367</c:v>
                </c:pt>
                <c:pt idx="1">
                  <c:v>205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22303f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22303f"/>
                </a:solidFill>
                <a:uFillTx/>
                <a:latin typeface="Arial"/>
              </a:rPr>
              <a:t>Percentual de dados ausentes por coluna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% ausente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30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Insulina</c:v>
                </c:pt>
                <c:pt idx="1">
                  <c:v>Esp. Pele</c:v>
                </c:pt>
                <c:pt idx="2">
                  <c:v>P. Arterial</c:v>
                </c:pt>
                <c:pt idx="3">
                  <c:v>IMC</c:v>
                </c:pt>
                <c:pt idx="4">
                  <c:v>Glicose</c:v>
                </c:pt>
                <c:pt idx="5">
                  <c:v>Gestações</c:v>
                </c:pt>
                <c:pt idx="6">
                  <c:v>DPF</c:v>
                </c:pt>
                <c:pt idx="7">
                  <c:v>Idade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65.4</c:v>
                </c:pt>
                <c:pt idx="1">
                  <c:v>39.7</c:v>
                </c:pt>
                <c:pt idx="2">
                  <c:v>6.1</c:v>
                </c:pt>
                <c:pt idx="3">
                  <c:v>1.9</c:v>
                </c:pt>
                <c:pt idx="4">
                  <c:v>0.9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gapWidth val="150"/>
        <c:overlap val="0"/>
        <c:axId val="64806978"/>
        <c:axId val="36761290"/>
      </c:barChart>
      <c:catAx>
        <c:axId val="6480697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5b6b79"/>
                </a:solidFill>
                <a:uFillTx/>
                <a:latin typeface="Arial"/>
              </a:defRPr>
            </a:pPr>
          </a:p>
        </c:txPr>
        <c:crossAx val="36761290"/>
        <c:crosses val="autoZero"/>
        <c:auto val="1"/>
        <c:lblAlgn val="ctr"/>
        <c:lblOffset val="100"/>
        <c:noMultiLvlLbl val="0"/>
      </c:catAx>
      <c:valAx>
        <c:axId val="36761290"/>
        <c:scaling>
          <c:orientation val="minMax"/>
        </c:scaling>
        <c:delete val="0"/>
        <c:axPos val="l"/>
        <c:majorGridlines>
          <c:spPr>
            <a:ln w="9360">
              <a:solidFill>
                <a:srgbClr val="e4e9ef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5b6b79"/>
                    </a:solidFill>
                    <a:uFillTx/>
                    <a:latin typeface="Arial"/>
                  </a:rPr>
                  <a:t>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5b6b79"/>
                </a:solidFill>
                <a:uFillTx/>
                <a:latin typeface="Arial"/>
              </a:defRPr>
            </a:pPr>
          </a:p>
        </c:txPr>
        <c:crossAx val="6480697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% ausente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230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Insulina</c:v>
                </c:pt>
                <c:pt idx="1">
                  <c:v>Esp. Pele</c:v>
                </c:pt>
                <c:pt idx="2">
                  <c:v>P. Arterial</c:v>
                </c:pt>
                <c:pt idx="3">
                  <c:v>IMC</c:v>
                </c:pt>
                <c:pt idx="4">
                  <c:v>Glicose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65.4</c:v>
                </c:pt>
                <c:pt idx="1">
                  <c:v>39.7</c:v>
                </c:pt>
                <c:pt idx="2">
                  <c:v>6.1</c:v>
                </c:pt>
                <c:pt idx="3">
                  <c:v>1.9</c:v>
                </c:pt>
                <c:pt idx="4">
                  <c:v>0.9</c:v>
                </c:pt>
              </c:numCache>
            </c:numRef>
          </c:val>
        </c:ser>
        <c:gapWidth val="150"/>
        <c:overlap val="0"/>
        <c:axId val="54231685"/>
        <c:axId val="80537121"/>
      </c:barChart>
      <c:lineChart>
        <c:grouping val="standard"/>
        <c:varyColors val="0"/>
        <c:ser>
          <c:idx val="1"/>
          <c:order val="1"/>
          <c:tx>
            <c:strRef>
              <c:f>label 1</c:f>
              <c:strCache>
                <c:ptCount val="1"/>
                <c:pt idx="0">
                  <c:v>Limiar de alerta (40%)</c:v>
                </c:pt>
              </c:strCache>
            </c:strRef>
          </c:tx>
          <c:spPr>
            <a:solidFill>
              <a:srgbClr val="e4572e"/>
            </a:solidFill>
            <a:ln w="31680">
              <a:solidFill>
                <a:srgbClr val="e4572e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Insulina</c:v>
                </c:pt>
                <c:pt idx="1">
                  <c:v>Esp. Pele</c:v>
                </c:pt>
                <c:pt idx="2">
                  <c:v>P. Arterial</c:v>
                </c:pt>
                <c:pt idx="3">
                  <c:v>IMC</c:v>
                </c:pt>
                <c:pt idx="4">
                  <c:v>Glicose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54231685"/>
        <c:axId val="80537121"/>
      </c:lineChart>
      <c:catAx>
        <c:axId val="5423168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5b6b79"/>
                </a:solidFill>
                <a:uFillTx/>
                <a:latin typeface="Arial"/>
              </a:defRPr>
            </a:pPr>
          </a:p>
        </c:txPr>
        <c:crossAx val="80537121"/>
        <c:crosses val="autoZero"/>
        <c:auto val="1"/>
        <c:lblAlgn val="ctr"/>
        <c:lblOffset val="100"/>
        <c:noMultiLvlLbl val="0"/>
      </c:catAx>
      <c:valAx>
        <c:axId val="80537121"/>
        <c:scaling>
          <c:orientation val="minMax"/>
        </c:scaling>
        <c:delete val="0"/>
        <c:axPos val="l"/>
        <c:majorGridlines>
          <c:spPr>
            <a:ln w="9360">
              <a:solidFill>
                <a:srgbClr val="e4e9ef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5b6b79"/>
                    </a:solidFill>
                    <a:uFillTx/>
                    <a:latin typeface="Arial"/>
                  </a:rPr>
                  <a:t>% ausente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5b6b79"/>
                </a:solidFill>
                <a:uFillTx/>
                <a:latin typeface="Arial"/>
              </a:defRPr>
            </a:pPr>
          </a:p>
        </c:txPr>
        <c:crossAx val="5423168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5b6b79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A2196A1-78FA-4FC4-9C8B-2FDE3ECD3CC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FAF9D6-2A5C-49ED-9E7E-68F664C15C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AE4779-00A3-4DA5-AA80-1B1BACD53F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154C4-B343-4020-AAC9-74071C3CE9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0DB8B-3781-459F-BF51-767308DB93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9B25D-3D27-4EA3-8712-39D76FC017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E8A3F6-E45E-49AC-83B1-133E46E642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6865D6-7D74-4C0A-A325-423446DC43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1110F3-11D5-4ADF-8B2F-4AEEE9E0FF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AB578-46D7-4BA1-880A-98B05780A4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49FE4D-F8FE-4AD1-83CB-448A19441A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1800000"/>
            <a:ext cx="5943240" cy="5943240"/>
          </a:xfrm>
          <a:prstGeom prst="ellipse">
            <a:avLst/>
          </a:prstGeom>
          <a:solidFill>
            <a:srgbClr val="065a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058400" y="3931920"/>
            <a:ext cx="3840120" cy="3840120"/>
          </a:xfrm>
          <a:prstGeom prst="ellipse">
            <a:avLst/>
          </a:prstGeom>
          <a:solidFill>
            <a:srgbClr val="1c7293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463040" y="4663440"/>
            <a:ext cx="3108600" cy="3108600"/>
          </a:xfrm>
          <a:prstGeom prst="ellipse">
            <a:avLst/>
          </a:prstGeom>
          <a:solidFill>
            <a:srgbClr val="e4572e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2340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1300" b="1" u="none" spc="201" strike="noStrike">
                <a:solidFill>
                  <a:srgbClr val="8fd3d9"/>
                </a:solidFill>
                <a:effectLst/>
                <a:uFillTx/>
                <a:latin typeface="Calibri"/>
                <a:ea typeface="Calibri"/>
              </a:rPr>
              <a:t>MACHINE </a:t>
            </a:r>
            <a:r>
              <a:rPr lang="en-US" sz="1300" b="1" u="none" spc="201" strike="noStrike">
                <a:solidFill>
                  <a:srgbClr val="8fd3d9"/>
                </a:solidFill>
                <a:effectLst/>
                <a:uFillTx/>
                <a:latin typeface="Calibri"/>
                <a:ea typeface="Calibri"/>
              </a:rPr>
              <a:t>LEARNING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0" y="2468880"/>
            <a:ext cx="8640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r"/>
            <a:r>
              <a:rPr lang="pt-BR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Pré-processamento de Dados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340884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pt-BR" sz="1600" b="0" u="none" strike="noStrike">
                <a:solidFill>
                  <a:srgbClr val="c7d3e0"/>
                </a:solidFill>
                <a:effectLst/>
                <a:uFillTx/>
                <a:latin typeface="Calibri"/>
                <a:ea typeface="Calibri"/>
              </a:rPr>
              <a:t>Como o </a:t>
            </a:r>
            <a:r>
              <a:rPr lang="en-US" sz="1600" b="0" u="none" strike="noStrike">
                <a:solidFill>
                  <a:srgbClr val="c7d3e0"/>
                </a:solidFill>
                <a:effectLst/>
                <a:uFillTx/>
                <a:latin typeface="Calibri"/>
                <a:ea typeface="Calibri"/>
              </a:rPr>
              <a:t>dataset</a:t>
            </a:r>
            <a:r>
              <a:rPr lang="pt-BR" sz="1600" b="0" u="none" strike="noStrike">
                <a:solidFill>
                  <a:srgbClr val="c7d3e0"/>
                </a:solidFill>
                <a:effectLst/>
                <a:uFillTx/>
                <a:latin typeface="Calibri"/>
                <a:ea typeface="Calibri"/>
              </a:rPr>
              <a:t> de diabetes é limpo, imputado e normalizado antes de alimentar o modelo preditivo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5943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diabetes_dataset.xlsx</a:t>
            </a:r>
            <a:r>
              <a:rPr lang="en-US" sz="1200" b="0" u="none" strike="noStrike">
                <a:solidFill>
                  <a:srgbClr val="9aa7c0"/>
                </a:solidFill>
                <a:effectLst/>
                <a:uFillTx/>
                <a:latin typeface="Courier New"/>
                <a:ea typeface="Courier New"/>
              </a:rPr>
              <a:t>   →   preprocess_diabetes.py   →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diabetes_dataset_preprocess.xlsx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809240" y="6480000"/>
            <a:ext cx="2573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FELI</a:t>
            </a: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 </a:t>
            </a: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LIRA </a:t>
            </a: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DA </a:t>
            </a: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SILV</a:t>
            </a: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486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PONTO DE PARTIDA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86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O dataset de diabetes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" name="Table 0"/>
          <p:cNvGraphicFramePr/>
          <p:nvPr/>
        </p:nvGraphicFramePr>
        <p:xfrm>
          <a:off x="548640" y="1508760"/>
          <a:ext cx="5943240" cy="48690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</a:tblGrid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Coluna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 que representa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Pregnancies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Número de gestações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Glucose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Concentração de glicose no plasma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BloodPressure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Pressão arterial diastólica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SkinThickness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Espessura da dobra cutânea do tríceps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Insulin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Insulina sérica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BMI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Índice de massa corporal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DiabetesPedigreeFunction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Histórico genético de diabetes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50832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2230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  <a:tr h="4845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Outcome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Alvo: diabético (1) ou não (0)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9360">
                      <a:solidFill>
                        <a:srgbClr val="e4e9ef"/>
                      </a:solidFill>
                      <a:prstDash val="solid"/>
                    </a:lnL>
                    <a:lnR w="9360">
                      <a:solidFill>
                        <a:srgbClr val="e4e9ef"/>
                      </a:solidFill>
                      <a:prstDash val="solid"/>
                    </a:lnR>
                    <a:lnT w="9360">
                      <a:solidFill>
                        <a:srgbClr val="e4e9ef"/>
                      </a:solidFill>
                      <a:prstDash val="solid"/>
                    </a:lnT>
                    <a:lnB w="9360">
                      <a:solidFill>
                        <a:srgbClr val="e4e9e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Shape 2"/>
          <p:cNvSpPr/>
          <p:nvPr/>
        </p:nvSpPr>
        <p:spPr>
          <a:xfrm>
            <a:off x="6903720" y="1508760"/>
            <a:ext cx="4754520" cy="141696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7178040" y="162756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572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7178040" y="233172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registros de treino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(diabetes_dataset.xlsx)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9464040" y="162756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9464040" y="233172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6903720" y="32461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Balanceamento das classes (treino)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" name="Chart 0"/>
          <p:cNvGraphicFramePr/>
          <p:nvPr/>
        </p:nvGraphicFramePr>
        <p:xfrm>
          <a:off x="6903720" y="3566160"/>
          <a:ext cx="4754520" cy="2834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" name="Text 8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548640" y="502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548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DIAGNÓSTICO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12344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Diagnóstico de dados ausentes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548640" y="1417320"/>
            <a:ext cx="42973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Antes de qualquer alteração, o script calcula o percentual de valores ausentes (NaN) em cada coluna. Esse diagnóstico orienta todas as decisões seguintes do pipeline.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548640" y="3429000"/>
            <a:ext cx="4297320" cy="265140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822960" y="3611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Maiores lacunas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822960" y="3931920"/>
            <a:ext cx="37486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300" b="1" u="none" strike="noStrike">
                <a:solidFill>
                  <a:srgbClr val="e4572e"/>
                </a:solidFill>
                <a:effectLst/>
                <a:uFillTx/>
                <a:latin typeface="Courier New"/>
                <a:ea typeface="Courier New"/>
              </a:rPr>
              <a:t>Insulin      </a:t>
            </a:r>
            <a:r>
              <a:rPr lang="en-US" sz="1300" b="0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65,4% ausente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SkinThickness</a:t>
            </a:r>
            <a:r>
              <a:rPr lang="en-US" sz="1300" b="0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 39,7% ausente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BloodPressure</a:t>
            </a:r>
            <a:r>
              <a:rPr lang="en-US" sz="1300" b="0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 6,1% ausente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Chart 0"/>
          <p:cNvGraphicFramePr/>
          <p:nvPr/>
        </p:nvGraphicFramePr>
        <p:xfrm>
          <a:off x="5029200" y="1417320"/>
          <a:ext cx="6583320" cy="466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Text 8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548640" y="502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LIMPEZA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12344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Zeros que, na verdade, são ausência de dado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548640" y="146304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Em exames clínicos, zero nem sempre significa "zero" — em algumas colunas é fisiologicamente impossível e sinaliza medição não registrada. O script converte esses casos em NaN antes de imputar, para que não sejam tratados como valores reais.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548640" y="2514600"/>
            <a:ext cx="5257440" cy="3565800"/>
          </a:xfrm>
          <a:prstGeom prst="roundRect">
            <a:avLst>
              <a:gd name="adj" fmla="val 3077"/>
            </a:avLst>
          </a:prstGeom>
          <a:solidFill>
            <a:srgbClr val="fdee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868680" y="27248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4572e"/>
                </a:solidFill>
                <a:effectLst/>
                <a:uFillTx/>
                <a:latin typeface="Cambria"/>
                <a:ea typeface="Cambria"/>
              </a:rPr>
              <a:t>Zero é IMPOSSÍVEL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868680" y="306324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(tratado como ausente)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868680" y="3429000"/>
            <a:ext cx="46630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Glucose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BloodPressure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SkinThickness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Insulin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BMI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6263640" y="2514600"/>
            <a:ext cx="5348880" cy="3565800"/>
          </a:xfrm>
          <a:prstGeom prst="roundRect">
            <a:avLst>
              <a:gd name="adj" fmla="val 3077"/>
            </a:avLst>
          </a:prstGeom>
          <a:solidFill>
            <a:srgbClr val="e9f3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6583680" y="27248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Zero é VÁLIDO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6583680" y="306324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(mantido como está)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6583680" y="3429000"/>
            <a:ext cx="4754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Pregnancies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100" b="1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   (zero gestações é normal)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500" b="1" u="none" strike="noStrike">
                <a:solidFill>
                  <a:srgbClr val="22303f"/>
                </a:solidFill>
                <a:effectLst/>
                <a:uFillTx/>
                <a:latin typeface="Courier New"/>
                <a:ea typeface="Courier New"/>
              </a:rPr>
              <a:t>•  Outcome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lang="en-US" sz="1100" b="1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   (0 = não diabético)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548640" y="502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LIMPEZA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12344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Quando uma coluna deve ser descartada?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548640" y="1417320"/>
            <a:ext cx="10698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Foi definido um limiar de 40% de ausência para o alerta: colunas acima dele são questionadas antes de seguir no pipeline — a decisão final não é automática. A variável alvo (Outcome) nunca entra nessa avaliação.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" name="Chart 0"/>
          <p:cNvGraphicFramePr/>
          <p:nvPr/>
        </p:nvGraphicFramePr>
        <p:xfrm>
          <a:off x="548640" y="2331720"/>
          <a:ext cx="7223400" cy="397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9" name="Shape 5"/>
          <p:cNvSpPr/>
          <p:nvPr/>
        </p:nvSpPr>
        <p:spPr>
          <a:xfrm>
            <a:off x="8001000" y="2331720"/>
            <a:ext cx="3611520" cy="1782720"/>
          </a:xfrm>
          <a:prstGeom prst="roundRect">
            <a:avLst>
              <a:gd name="adj" fmla="val 5128"/>
            </a:avLst>
          </a:prstGeom>
          <a:solidFill>
            <a:srgbClr val="fdee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8229600" y="24872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e4572e"/>
                </a:solidFill>
                <a:effectLst/>
                <a:uFillTx/>
                <a:latin typeface="Calibri"/>
                <a:ea typeface="Calibri"/>
              </a:rPr>
              <a:t>Insulina — 65,4%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8229600" y="2816280"/>
            <a:ext cx="3200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Acima do limiar: o pipeline pergunta se a coluna deve ser excluída do dataset final.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8001000" y="4297680"/>
            <a:ext cx="3611520" cy="201132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8229600" y="44622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Esp. Pele — 39,7%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8229600" y="4791600"/>
            <a:ext cx="3200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Fica logo abaixo do limiar: segue automaticamente para a etapa de imputação, sem necessidade de revisão.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548640" y="502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20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ENRIQUECIMENTO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12344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Preenchendo o que ficou ausente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548640" y="141732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Em vez de preencher lacunas com um valor fixo, cada NaN recebe um valor sorteado entre as próprias observações válidas daquela coluna. O formato real da distribuição — média, desvio-padrão, valores extremos — é preservado.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548640" y="2514600"/>
            <a:ext cx="5257440" cy="35658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868680" y="27248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Abordagem evitada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868680" y="30632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Preencher com média ou mediana fixa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868680" y="3657600"/>
            <a:ext cx="4663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3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•  Todo valor ausente vira idêntico.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•  Reduz artificialmente a variância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13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•  Distorce a distribuição original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6263640" y="2514600"/>
            <a:ext cx="5348880" cy="3565800"/>
          </a:xfrm>
          <a:prstGeom prst="roundRect">
            <a:avLst>
              <a:gd name="adj" fmla="val 3077"/>
            </a:avLst>
          </a:prstGeom>
          <a:solidFill>
            <a:srgbClr val="e9f3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6583680" y="272484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Abordagem usada no script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6583680" y="30632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Amostragem da distribuição real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6583680" y="365760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3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•  Sorteia entre valores já observados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•  Mantém média, desvio e formato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13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•  Cada coluna é tratada de forma independente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48640" y="502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NORMALIZAÇÃO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12344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Colocando todas as features na mesma escala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548640" y="141732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Colunas como Insulin e Age têm faixas de valores muito diferentes. O RobustScaler reescala cada feature usando a mediana e o intervalo interquartil (IQR) — em vez de média e desvio-padrão — o que reduz a influência de outliers, comuns num dataset com tantos valores imputados.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548640" y="2606040"/>
            <a:ext cx="5120280" cy="342864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868680" y="278892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A fórmula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868680" y="324612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x' = (x − mediana) / IQR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868680" y="393192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IQR = valor do 3º quartil menos o valor do 1º quartil da coluna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868680" y="4572000"/>
            <a:ext cx="4480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Por que não a média/desvio-padrão? Porque poucos valores extremos bastam para distorcer essas duas medidas — a mediana e o IQR são muito mais estáveis.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6309360" y="4114800"/>
            <a:ext cx="5028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548640" y="502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APLICAR NORMALIZAÇÃO NO ARQUIVO DE TESTE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1234440" y="713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Mantendo</a:t>
            </a: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pt-BR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coerência</a:t>
            </a: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 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548640" y="1417320"/>
            <a:ext cx="10698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Como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normalizamos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o dataset,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normalizaremos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também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os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dados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do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teste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para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evitar</a:t>
            </a:r>
            <a:r>
              <a:rPr lang="en-US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t-BR" sz="1400" b="0" u="none" strike="noStrike">
                <a:solidFill>
                  <a:srgbClr val="22303f"/>
                </a:solidFill>
                <a:effectLst/>
                <a:uFillTx/>
                <a:latin typeface="Calibri"/>
                <a:ea typeface="Calibri"/>
              </a:rPr>
              <a:t>erros.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548640" y="2468880"/>
            <a:ext cx="5028840" cy="3748680"/>
          </a:xfrm>
          <a:prstGeom prst="roundRect">
            <a:avLst>
              <a:gd name="adj" fmla="val 2927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868680" y="272484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bfe0ea"/>
                </a:solidFill>
                <a:effectLst/>
                <a:uFillTx/>
                <a:latin typeface="Calibri"/>
                <a:ea typeface="Calibri"/>
              </a:rPr>
              <a:t>Pré Processamento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868680" y="30358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diabetes_dataset.xlsx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868680" y="3703320"/>
            <a:ext cx="4480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8f0f5"/>
                </a:solidFill>
                <a:effectLst/>
                <a:uFillTx/>
                <a:latin typeface="Calibri"/>
                <a:ea typeface="Calibri"/>
              </a:rPr>
              <a:t>1.  Diagnostica ausências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8f0f5"/>
                </a:solidFill>
                <a:effectLst/>
                <a:uFillTx/>
                <a:latin typeface="Calibri"/>
                <a:ea typeface="Calibri"/>
              </a:rPr>
              <a:t>2.  Trata zeros inválidos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8f0f5"/>
                </a:solidFill>
                <a:effectLst/>
                <a:uFillTx/>
                <a:latin typeface="Calibri"/>
                <a:ea typeface="Calibri"/>
              </a:rPr>
              <a:t>3.  Avalia exclusão de colunas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8f0f5"/>
                </a:solidFill>
                <a:effectLst/>
                <a:uFillTx/>
                <a:latin typeface="Calibri"/>
                <a:ea typeface="Calibri"/>
              </a:rPr>
              <a:t>4.  Imputa por amostragem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8f0f5"/>
                </a:solidFill>
                <a:effectLst/>
                <a:uFillTx/>
                <a:latin typeface="Calibri"/>
                <a:ea typeface="Calibri"/>
              </a:rPr>
              <a:t>5.  Calcula mediana/IQR e normaliza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5715000" y="4023360"/>
            <a:ext cx="914040" cy="639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457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5486400" y="472752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parâmetros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5b6b79"/>
                </a:solidFill>
                <a:effectLst/>
                <a:uFillTx/>
                <a:latin typeface="Calibri"/>
                <a:ea typeface="Calibri"/>
              </a:rPr>
              <a:t>reaproveitados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6720840" y="2468880"/>
            <a:ext cx="4937400" cy="3748680"/>
          </a:xfrm>
          <a:prstGeom prst="roundRect">
            <a:avLst>
              <a:gd name="adj" fmla="val 2927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040880" y="272484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50" strike="noStrike">
                <a:solidFill>
                  <a:srgbClr val="c9eae4"/>
                </a:solidFill>
                <a:effectLst/>
                <a:uFillTx/>
                <a:latin typeface="Calibri"/>
                <a:ea typeface="Calibri"/>
              </a:rPr>
              <a:t>Teste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7040880" y="30358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diabetes_app.xlsx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7040880" y="3703320"/>
            <a:ext cx="4480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af6f3"/>
                </a:solidFill>
                <a:effectLst/>
                <a:uFillTx/>
                <a:latin typeface="Calibri"/>
                <a:ea typeface="Calibri"/>
              </a:rPr>
              <a:t>1.  Seleciona as mesmas colunas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af6f3"/>
                </a:solidFill>
                <a:effectLst/>
                <a:uFillTx/>
                <a:latin typeface="Calibri"/>
                <a:ea typeface="Calibri"/>
              </a:rPr>
              <a:t>2.  Normaliza com a mediana/IQR já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eaf6f3"/>
                </a:solidFill>
                <a:effectLst/>
                <a:uFillTx/>
                <a:latin typeface="Calibri"/>
                <a:ea typeface="Calibri"/>
              </a:rPr>
              <a:t>     calculados no pré processamento do dataset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3"/>
          <p:cNvSpPr/>
          <p:nvPr/>
        </p:nvSpPr>
        <p:spPr>
          <a:xfrm>
            <a:off x="548640" y="430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548640" y="502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123444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1096200" y="39600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BR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Principais</a:t>
            </a: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pt-BR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funções</a:t>
            </a:r>
            <a:r>
              <a:rPr lang="en-US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 do </a:t>
            </a:r>
            <a:r>
              <a:rPr lang="pt-BR" sz="2800" b="1" u="none" strike="noStrike">
                <a:solidFill>
                  <a:srgbClr val="22303f"/>
                </a:solidFill>
                <a:effectLst/>
                <a:uFillTx/>
                <a:latin typeface="Cambria"/>
                <a:ea typeface="Cambria"/>
              </a:rPr>
              <a:t>código.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b4b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180000" y="4779720"/>
            <a:ext cx="6122160" cy="18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"/>
          <p:cNvPicPr/>
          <p:nvPr/>
        </p:nvPicPr>
        <p:blipFill>
          <a:blip r:embed="rId2"/>
          <a:stretch/>
        </p:blipFill>
        <p:spPr>
          <a:xfrm>
            <a:off x="180000" y="1440000"/>
            <a:ext cx="6122160" cy="344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/>
          <p:cNvPicPr/>
          <p:nvPr/>
        </p:nvPicPr>
        <p:blipFill>
          <a:blip r:embed="rId3"/>
          <a:stretch/>
        </p:blipFill>
        <p:spPr>
          <a:xfrm>
            <a:off x="6492240" y="2520000"/>
            <a:ext cx="5387760" cy="21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7"/>
          <p:cNvSpPr/>
          <p:nvPr/>
        </p:nvSpPr>
        <p:spPr>
          <a:xfrm>
            <a:off x="-1828800" y="-2011680"/>
            <a:ext cx="5486040" cy="5486040"/>
          </a:xfrm>
          <a:prstGeom prst="ellipse">
            <a:avLst/>
          </a:prstGeom>
          <a:solidFill>
            <a:srgbClr val="065a82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9601200" y="3474720"/>
            <a:ext cx="4754520" cy="4754520"/>
          </a:xfrm>
          <a:prstGeom prst="ellipse">
            <a:avLst/>
          </a:prstGeom>
          <a:solidFill>
            <a:srgbClr val="1c7293">
              <a:alpha val="3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405880" y="2702520"/>
            <a:ext cx="7380000" cy="145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pt-BR" sz="9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OB</a:t>
            </a:r>
            <a:r>
              <a:rPr lang="pt-BR" sz="9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RIG</a:t>
            </a:r>
            <a:r>
              <a:rPr lang="pt-BR" sz="9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AD</a:t>
            </a:r>
            <a:r>
              <a:rPr lang="pt-BR" sz="9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O!</a:t>
            </a:r>
            <a:endParaRPr lang="pt-BR" sz="9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LibreOffice/25.8.7.3$Linux_X86_64 LibreOffice_project/580$Build-3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2026-09-03T18:48:20Z</dcterms:created>
  <dc:creator>PptxGenJS</dc:creator>
  <dc:description/>
  <dc:language>pt-BR</dc:language>
  <cp:lastModifiedBy/>
  <dcterms:modified xsi:type="dcterms:W3CDTF">2026-09-03T17:01:25Z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